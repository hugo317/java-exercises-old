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5" roundtripDataSignature="AMtx7mgy1zbHHkVCQNB17bFhx50mk7Vx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04755db178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204755db178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3.jpg"/><Relationship Id="rId5" Type="http://schemas.openxmlformats.org/officeDocument/2006/relationships/image" Target="../media/image5.jpg"/><Relationship Id="rId6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jpg"/><Relationship Id="rId4" Type="http://schemas.openxmlformats.org/officeDocument/2006/relationships/image" Target="../media/image36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www.youtube.com/watch?v=EXTLJmYsaUQ" TargetMode="External"/><Relationship Id="rId4" Type="http://schemas.openxmlformats.org/officeDocument/2006/relationships/image" Target="../media/image3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423225" y="416425"/>
            <a:ext cx="85206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pt-PT">
                <a:solidFill>
                  <a:srgbClr val="FFFFFF"/>
                </a:solidFill>
              </a:rPr>
              <a:t>#Arabian #Summarizers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262725" y="4258575"/>
            <a:ext cx="49752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b="1" lang="pt-PT">
                <a:solidFill>
                  <a:schemeClr val="lt1"/>
                </a:solidFill>
              </a:rPr>
              <a:t>by:Code Cadet TomásFonseca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b="1" lang="pt-PT">
                <a:solidFill>
                  <a:schemeClr val="lt1"/>
                </a:solidFill>
              </a:rPr>
              <a:t>01 Fevereiro 2023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/>
          <p:nvPr>
            <p:ph type="title"/>
          </p:nvPr>
        </p:nvSpPr>
        <p:spPr>
          <a:xfrm>
            <a:off x="311700" y="432300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Inheritance</a:t>
            </a:r>
            <a:endParaRPr b="1" sz="5020">
              <a:solidFill>
                <a:schemeClr val="lt1"/>
              </a:solidFill>
            </a:endParaRPr>
          </a:p>
        </p:txBody>
      </p:sp>
      <p:sp>
        <p:nvSpPr>
          <p:cNvPr id="61" name="Google Shape;61;p3"/>
          <p:cNvSpPr txBox="1"/>
          <p:nvPr>
            <p:ph idx="1" type="body"/>
          </p:nvPr>
        </p:nvSpPr>
        <p:spPr>
          <a:xfrm>
            <a:off x="95175" y="1459475"/>
            <a:ext cx="7153800" cy="3211200"/>
          </a:xfrm>
          <a:prstGeom prst="rect">
            <a:avLst/>
          </a:prstGeom>
          <a:solidFill>
            <a:srgbClr val="000000">
              <a:alpha val="7450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900">
              <a:solidFill>
                <a:schemeClr val="lt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900"/>
              <a:buChar char="●"/>
            </a:pPr>
            <a:r>
              <a:rPr b="1" lang="pt-PT" sz="2900">
                <a:solidFill>
                  <a:schemeClr val="lt1"/>
                </a:solidFill>
              </a:rPr>
              <a:t>Design Technique</a:t>
            </a:r>
            <a:endParaRPr b="1" sz="2900">
              <a:solidFill>
                <a:schemeClr val="lt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●"/>
            </a:pPr>
            <a:r>
              <a:rPr b="1" lang="pt-PT" sz="2900">
                <a:solidFill>
                  <a:schemeClr val="lt1"/>
                </a:solidFill>
              </a:rPr>
              <a:t>Derivative Relationships</a:t>
            </a:r>
            <a:endParaRPr b="1" sz="2900">
              <a:solidFill>
                <a:schemeClr val="lt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●"/>
            </a:pPr>
            <a:r>
              <a:rPr b="1" lang="pt-PT" sz="2900">
                <a:solidFill>
                  <a:schemeClr val="lt1"/>
                </a:solidFill>
              </a:rPr>
              <a:t>Shorter and Simpler Code</a:t>
            </a:r>
            <a:endParaRPr b="1" sz="2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2900">
              <a:solidFill>
                <a:schemeClr val="lt1"/>
              </a:solidFill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475" y="84475"/>
            <a:ext cx="2822851" cy="375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 txBox="1"/>
          <p:nvPr>
            <p:ph type="title"/>
          </p:nvPr>
        </p:nvSpPr>
        <p:spPr>
          <a:xfrm>
            <a:off x="311700" y="432300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Inheritance</a:t>
            </a:r>
            <a:endParaRPr b="1" sz="5020">
              <a:solidFill>
                <a:schemeClr val="lt1"/>
              </a:solidFill>
            </a:endParaRPr>
          </a:p>
        </p:txBody>
      </p:sp>
      <p:sp>
        <p:nvSpPr>
          <p:cNvPr id="68" name="Google Shape;68;p4"/>
          <p:cNvSpPr txBox="1"/>
          <p:nvPr>
            <p:ph idx="1" type="body"/>
          </p:nvPr>
        </p:nvSpPr>
        <p:spPr>
          <a:xfrm>
            <a:off x="131900" y="1477850"/>
            <a:ext cx="6537000" cy="3435600"/>
          </a:xfrm>
          <a:prstGeom prst="rect">
            <a:avLst/>
          </a:prstGeom>
          <a:solidFill>
            <a:srgbClr val="000000">
              <a:alpha val="7450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pt-PT" sz="4143">
                <a:solidFill>
                  <a:schemeClr val="lt1"/>
                </a:solidFill>
              </a:rPr>
              <a:t>Carpet</a:t>
            </a:r>
            <a:endParaRPr b="1" sz="4143">
              <a:solidFill>
                <a:schemeClr val="lt1"/>
              </a:solidFill>
            </a:endParaRPr>
          </a:p>
          <a:p>
            <a:pPr indent="-402795" lvl="3" marL="18288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743"/>
              <a:buChar char="●"/>
            </a:pPr>
            <a:r>
              <a:rPr b="1" lang="pt-PT" sz="2743">
                <a:solidFill>
                  <a:schemeClr val="lt1"/>
                </a:solidFill>
              </a:rPr>
              <a:t>String type;</a:t>
            </a:r>
            <a:endParaRPr b="1" sz="2743">
              <a:solidFill>
                <a:schemeClr val="lt1"/>
              </a:solidFill>
            </a:endParaRPr>
          </a:p>
          <a:p>
            <a:pPr indent="-402795" lvl="3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43"/>
              <a:buChar char="●"/>
            </a:pPr>
            <a:r>
              <a:rPr b="1" lang="pt-PT" sz="2743">
                <a:solidFill>
                  <a:schemeClr val="lt1"/>
                </a:solidFill>
              </a:rPr>
              <a:t>String color;</a:t>
            </a:r>
            <a:endParaRPr b="1" sz="2743">
              <a:solidFill>
                <a:schemeClr val="lt1"/>
              </a:solidFill>
            </a:endParaRPr>
          </a:p>
          <a:p>
            <a:pPr indent="-402795" lvl="3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43"/>
              <a:buChar char="●"/>
            </a:pPr>
            <a:r>
              <a:rPr b="1" lang="pt-PT" sz="2743">
                <a:solidFill>
                  <a:schemeClr val="lt1"/>
                </a:solidFill>
              </a:rPr>
              <a:t>int m2;</a:t>
            </a:r>
            <a:endParaRPr b="1" sz="2743">
              <a:solidFill>
                <a:schemeClr val="lt1"/>
              </a:solidFill>
            </a:endParaRPr>
          </a:p>
          <a:p>
            <a:pPr indent="-402795" lvl="3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43"/>
              <a:buChar char="●"/>
            </a:pPr>
            <a:r>
              <a:rPr b="1" lang="pt-PT" sz="2743">
                <a:solidFill>
                  <a:schemeClr val="lt1"/>
                </a:solidFill>
              </a:rPr>
              <a:t>boolean isDirty;</a:t>
            </a:r>
            <a:endParaRPr b="1" sz="2743">
              <a:solidFill>
                <a:schemeClr val="lt1"/>
              </a:solidFill>
            </a:endParaRPr>
          </a:p>
          <a:p>
            <a:pPr indent="-402795" lvl="3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43"/>
              <a:buChar char="●"/>
            </a:pPr>
            <a:r>
              <a:rPr b="1" lang="pt-PT" sz="2743">
                <a:solidFill>
                  <a:schemeClr val="lt1"/>
                </a:solidFill>
              </a:rPr>
              <a:t>…</a:t>
            </a:r>
            <a:endParaRPr b="1" sz="2743">
              <a:solidFill>
                <a:schemeClr val="lt1"/>
              </a:solidFill>
            </a:endParaRPr>
          </a:p>
          <a:p>
            <a:pPr indent="-402795" lvl="3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43"/>
              <a:buChar char="●"/>
            </a:pPr>
            <a:r>
              <a:rPr b="1" lang="pt-PT" sz="2743">
                <a:solidFill>
                  <a:schemeClr val="lt1"/>
                </a:solidFill>
              </a:rPr>
              <a:t>public void  getClean()</a:t>
            </a:r>
            <a:endParaRPr b="1" sz="2743">
              <a:solidFill>
                <a:schemeClr val="lt1"/>
              </a:solidFill>
            </a:endParaRPr>
          </a:p>
        </p:txBody>
      </p:sp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0625" y="1031825"/>
            <a:ext cx="2726675" cy="272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>
            <p:ph type="title"/>
          </p:nvPr>
        </p:nvSpPr>
        <p:spPr>
          <a:xfrm>
            <a:off x="311700" y="432300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Inheritance</a:t>
            </a:r>
            <a:endParaRPr b="1" sz="5020">
              <a:solidFill>
                <a:schemeClr val="lt1"/>
              </a:solidFill>
            </a:endParaRPr>
          </a:p>
        </p:txBody>
      </p:sp>
      <p:sp>
        <p:nvSpPr>
          <p:cNvPr id="75" name="Google Shape;75;p5"/>
          <p:cNvSpPr txBox="1"/>
          <p:nvPr>
            <p:ph idx="1" type="body"/>
          </p:nvPr>
        </p:nvSpPr>
        <p:spPr>
          <a:xfrm>
            <a:off x="807450" y="1650600"/>
            <a:ext cx="7036500" cy="3097800"/>
          </a:xfrm>
          <a:prstGeom prst="rect">
            <a:avLst/>
          </a:prstGeom>
          <a:solidFill>
            <a:srgbClr val="000000">
              <a:alpha val="7450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PT" sz="4143">
                <a:solidFill>
                  <a:schemeClr val="lt1"/>
                </a:solidFill>
              </a:rPr>
              <a:t>And the Magic Carpet?</a:t>
            </a:r>
            <a:endParaRPr b="1" sz="4143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pt-PT" sz="4143">
                <a:solidFill>
                  <a:schemeClr val="lt1"/>
                </a:solidFill>
              </a:rPr>
              <a:t>…</a:t>
            </a:r>
            <a:endParaRPr b="1" sz="4143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pt-PT" sz="4143">
                <a:solidFill>
                  <a:schemeClr val="lt1"/>
                </a:solidFill>
              </a:rPr>
              <a:t>Is it a Carpet?</a:t>
            </a:r>
            <a:endParaRPr b="1" sz="4143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6"/>
          <p:cNvPicPr preferRelativeResize="0"/>
          <p:nvPr/>
        </p:nvPicPr>
        <p:blipFill rotWithShape="1">
          <a:blip r:embed="rId3">
            <a:alphaModFix/>
          </a:blip>
          <a:srcRect b="9214" l="8449" r="0" t="24305"/>
          <a:stretch/>
        </p:blipFill>
        <p:spPr>
          <a:xfrm>
            <a:off x="1230725" y="1571750"/>
            <a:ext cx="7182500" cy="341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6"/>
          <p:cNvPicPr preferRelativeResize="0"/>
          <p:nvPr/>
        </p:nvPicPr>
        <p:blipFill rotWithShape="1">
          <a:blip r:embed="rId4">
            <a:alphaModFix/>
          </a:blip>
          <a:srcRect b="8891" l="0" r="12891" t="26634"/>
          <a:stretch/>
        </p:blipFill>
        <p:spPr>
          <a:xfrm flipH="1">
            <a:off x="3740425" y="650425"/>
            <a:ext cx="3112074" cy="2302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/>
          <p:nvPr>
            <p:ph type="title"/>
          </p:nvPr>
        </p:nvSpPr>
        <p:spPr>
          <a:xfrm>
            <a:off x="311700" y="432300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Inheritance</a:t>
            </a:r>
            <a:endParaRPr b="1" sz="5020">
              <a:solidFill>
                <a:schemeClr val="lt1"/>
              </a:solidFill>
            </a:endParaRPr>
          </a:p>
        </p:txBody>
      </p:sp>
      <p:sp>
        <p:nvSpPr>
          <p:cNvPr id="87" name="Google Shape;87;p7"/>
          <p:cNvSpPr txBox="1"/>
          <p:nvPr>
            <p:ph idx="1" type="body"/>
          </p:nvPr>
        </p:nvSpPr>
        <p:spPr>
          <a:xfrm>
            <a:off x="76825" y="1441125"/>
            <a:ext cx="4260300" cy="3325500"/>
          </a:xfrm>
          <a:prstGeom prst="rect">
            <a:avLst/>
          </a:prstGeom>
          <a:solidFill>
            <a:srgbClr val="000000">
              <a:alpha val="7450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091"/>
              <a:buNone/>
            </a:pPr>
            <a:r>
              <a:rPr b="1" lang="pt-PT" sz="5347">
                <a:solidFill>
                  <a:schemeClr val="lt1"/>
                </a:solidFill>
              </a:rPr>
              <a:t>Carpet</a:t>
            </a:r>
            <a:endParaRPr b="1" sz="5347">
              <a:solidFill>
                <a:schemeClr val="lt1"/>
              </a:solidFill>
            </a:endParaRPr>
          </a:p>
          <a:p>
            <a:pPr indent="-377511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b="1" lang="pt-PT" sz="3347">
                <a:solidFill>
                  <a:schemeClr val="lt1"/>
                </a:solidFill>
              </a:rPr>
              <a:t>String type;</a:t>
            </a:r>
            <a:endParaRPr b="1" sz="3347">
              <a:solidFill>
                <a:schemeClr val="lt1"/>
              </a:solidFill>
            </a:endParaRPr>
          </a:p>
          <a:p>
            <a:pPr indent="-377511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b="1" lang="pt-PT" sz="3347">
                <a:solidFill>
                  <a:schemeClr val="lt1"/>
                </a:solidFill>
              </a:rPr>
              <a:t>String color;</a:t>
            </a:r>
            <a:endParaRPr b="1" sz="3347">
              <a:solidFill>
                <a:schemeClr val="lt1"/>
              </a:solidFill>
            </a:endParaRPr>
          </a:p>
          <a:p>
            <a:pPr indent="-377511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b="1" lang="pt-PT" sz="3347">
                <a:solidFill>
                  <a:schemeClr val="lt1"/>
                </a:solidFill>
              </a:rPr>
              <a:t>int m2;</a:t>
            </a:r>
            <a:endParaRPr b="1" sz="3347">
              <a:solidFill>
                <a:schemeClr val="lt1"/>
              </a:solidFill>
            </a:endParaRPr>
          </a:p>
          <a:p>
            <a:pPr indent="-377511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b="1" lang="pt-PT" sz="3347">
                <a:solidFill>
                  <a:schemeClr val="lt1"/>
                </a:solidFill>
              </a:rPr>
              <a:t>boolean isDirty;</a:t>
            </a:r>
            <a:endParaRPr b="1" sz="3347">
              <a:solidFill>
                <a:schemeClr val="lt1"/>
              </a:solidFill>
            </a:endParaRPr>
          </a:p>
          <a:p>
            <a:pPr indent="-377511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b="1" lang="pt-PT" sz="3347">
                <a:solidFill>
                  <a:schemeClr val="lt1"/>
                </a:solidFill>
              </a:rPr>
              <a:t>…</a:t>
            </a:r>
            <a:endParaRPr b="1" sz="3347">
              <a:solidFill>
                <a:schemeClr val="lt1"/>
              </a:solidFill>
            </a:endParaRPr>
          </a:p>
          <a:p>
            <a:pPr indent="-377511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b="1" lang="pt-PT" sz="3347">
                <a:solidFill>
                  <a:schemeClr val="lt1"/>
                </a:solidFill>
              </a:rPr>
              <a:t>public void  getClean()</a:t>
            </a:r>
            <a:endParaRPr b="1" sz="3347">
              <a:solidFill>
                <a:schemeClr val="lt1"/>
              </a:solidFill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3180200" y="1650600"/>
            <a:ext cx="1303800" cy="58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 txBox="1"/>
          <p:nvPr>
            <p:ph idx="1" type="body"/>
          </p:nvPr>
        </p:nvSpPr>
        <p:spPr>
          <a:xfrm>
            <a:off x="4572000" y="1892825"/>
            <a:ext cx="4260300" cy="2976600"/>
          </a:xfrm>
          <a:prstGeom prst="rect">
            <a:avLst/>
          </a:prstGeom>
          <a:solidFill>
            <a:srgbClr val="000000">
              <a:alpha val="7450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PT" sz="4547">
                <a:solidFill>
                  <a:schemeClr val="lt1"/>
                </a:solidFill>
              </a:rPr>
              <a:t>Magic Carpet</a:t>
            </a:r>
            <a:endParaRPr b="1" sz="4547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pt-PT" sz="2547">
                <a:solidFill>
                  <a:schemeClr val="lt1"/>
                </a:solidFill>
              </a:rPr>
              <a:t>extends Carpet</a:t>
            </a:r>
            <a:endParaRPr b="1" sz="2547">
              <a:solidFill>
                <a:schemeClr val="lt1"/>
              </a:solidFill>
            </a:endParaRPr>
          </a:p>
          <a:p>
            <a:pPr indent="-390368" lvl="0" marL="18288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548"/>
              <a:buChar char="●"/>
            </a:pPr>
            <a:r>
              <a:rPr b="1" lang="pt-PT" sz="2547">
                <a:solidFill>
                  <a:schemeClr val="lt1"/>
                </a:solidFill>
              </a:rPr>
              <a:t>int maxSpeed;</a:t>
            </a:r>
            <a:endParaRPr b="1" sz="2547">
              <a:solidFill>
                <a:schemeClr val="lt1"/>
              </a:solidFill>
            </a:endParaRPr>
          </a:p>
          <a:p>
            <a:pPr indent="-390368" lvl="0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48"/>
              <a:buChar char="●"/>
            </a:pPr>
            <a:r>
              <a:rPr b="1" lang="pt-PT" sz="2547">
                <a:solidFill>
                  <a:schemeClr val="lt1"/>
                </a:solidFill>
              </a:rPr>
              <a:t>int maxHight;</a:t>
            </a:r>
            <a:endParaRPr b="1" sz="2547">
              <a:solidFill>
                <a:schemeClr val="lt1"/>
              </a:solidFill>
            </a:endParaRPr>
          </a:p>
          <a:p>
            <a:pPr indent="-390368" lvl="0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48"/>
              <a:buChar char="●"/>
            </a:pPr>
            <a:r>
              <a:rPr b="1" lang="pt-PT" sz="2547">
                <a:solidFill>
                  <a:schemeClr val="lt1"/>
                </a:solidFill>
              </a:rPr>
              <a:t>…</a:t>
            </a:r>
            <a:endParaRPr b="1" sz="2547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 txBox="1"/>
          <p:nvPr>
            <p:ph type="title"/>
          </p:nvPr>
        </p:nvSpPr>
        <p:spPr>
          <a:xfrm>
            <a:off x="311700" y="432300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Inheritance</a:t>
            </a:r>
            <a:endParaRPr b="1" sz="5020">
              <a:solidFill>
                <a:schemeClr val="lt1"/>
              </a:solidFill>
            </a:endParaRPr>
          </a:p>
        </p:txBody>
      </p:sp>
      <p:sp>
        <p:nvSpPr>
          <p:cNvPr id="95" name="Google Shape;95;p8"/>
          <p:cNvSpPr txBox="1"/>
          <p:nvPr>
            <p:ph idx="1" type="body"/>
          </p:nvPr>
        </p:nvSpPr>
        <p:spPr>
          <a:xfrm>
            <a:off x="95175" y="1459475"/>
            <a:ext cx="7153800" cy="3211200"/>
          </a:xfrm>
          <a:prstGeom prst="rect">
            <a:avLst/>
          </a:prstGeom>
          <a:solidFill>
            <a:srgbClr val="000000">
              <a:alpha val="7450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pt-PT" sz="2900">
                <a:solidFill>
                  <a:schemeClr val="lt1"/>
                </a:solidFill>
              </a:rPr>
              <a:t>Every Magic Carpet is a Carpet</a:t>
            </a:r>
            <a:endParaRPr b="1" sz="2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pt-PT" sz="2900">
                <a:solidFill>
                  <a:schemeClr val="lt1"/>
                </a:solidFill>
              </a:rPr>
              <a:t>But not every Carpet is a Magic Carpet </a:t>
            </a:r>
            <a:endParaRPr b="1" sz="2900">
              <a:solidFill>
                <a:schemeClr val="lt1"/>
              </a:solidFill>
            </a:endParaRPr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7350" y="267425"/>
            <a:ext cx="2414674" cy="3211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>
            <p:ph type="title"/>
          </p:nvPr>
        </p:nvSpPr>
        <p:spPr>
          <a:xfrm>
            <a:off x="311700" y="432300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Inheritance</a:t>
            </a:r>
            <a:endParaRPr b="1" sz="5020">
              <a:solidFill>
                <a:schemeClr val="lt1"/>
              </a:solidFill>
            </a:endParaRPr>
          </a:p>
        </p:txBody>
      </p:sp>
      <p:sp>
        <p:nvSpPr>
          <p:cNvPr id="102" name="Google Shape;102;p9"/>
          <p:cNvSpPr txBox="1"/>
          <p:nvPr>
            <p:ph idx="1" type="body"/>
          </p:nvPr>
        </p:nvSpPr>
        <p:spPr>
          <a:xfrm>
            <a:off x="866375" y="1918525"/>
            <a:ext cx="4719300" cy="2297400"/>
          </a:xfrm>
          <a:prstGeom prst="rect">
            <a:avLst/>
          </a:prstGeom>
          <a:solidFill>
            <a:srgbClr val="000000">
              <a:alpha val="7450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PT" sz="5347">
                <a:solidFill>
                  <a:schemeClr val="lt1"/>
                </a:solidFill>
              </a:rPr>
              <a:t>super.</a:t>
            </a:r>
            <a:endParaRPr b="1" sz="5347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pt-PT" sz="5347">
                <a:solidFill>
                  <a:schemeClr val="lt1"/>
                </a:solidFill>
              </a:rPr>
              <a:t>@override</a:t>
            </a:r>
            <a:endParaRPr b="1" sz="5347">
              <a:solidFill>
                <a:schemeClr val="lt1"/>
              </a:solidFill>
            </a:endParaRPr>
          </a:p>
        </p:txBody>
      </p:sp>
      <p:pic>
        <p:nvPicPr>
          <p:cNvPr id="103" name="Google Shape;103;p9"/>
          <p:cNvPicPr preferRelativeResize="0"/>
          <p:nvPr/>
        </p:nvPicPr>
        <p:blipFill rotWithShape="1">
          <a:blip r:embed="rId3">
            <a:alphaModFix/>
          </a:blip>
          <a:srcRect b="-4024" l="0" r="0" t="25567"/>
          <a:stretch/>
        </p:blipFill>
        <p:spPr>
          <a:xfrm>
            <a:off x="6031850" y="1816575"/>
            <a:ext cx="2397299" cy="2501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/>
          <p:nvPr>
            <p:ph type="title"/>
          </p:nvPr>
        </p:nvSpPr>
        <p:spPr>
          <a:xfrm>
            <a:off x="311700" y="432300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Inheritance &amp; Composition</a:t>
            </a:r>
            <a:endParaRPr b="1" sz="5020">
              <a:solidFill>
                <a:schemeClr val="lt1"/>
              </a:solidFill>
            </a:endParaRPr>
          </a:p>
        </p:txBody>
      </p:sp>
      <p:sp>
        <p:nvSpPr>
          <p:cNvPr id="109" name="Google Shape;109;p10"/>
          <p:cNvSpPr txBox="1"/>
          <p:nvPr>
            <p:ph idx="1" type="body"/>
          </p:nvPr>
        </p:nvSpPr>
        <p:spPr>
          <a:xfrm>
            <a:off x="866375" y="1918525"/>
            <a:ext cx="7877400" cy="2774700"/>
          </a:xfrm>
          <a:prstGeom prst="rect">
            <a:avLst/>
          </a:prstGeom>
          <a:solidFill>
            <a:srgbClr val="000000">
              <a:alpha val="7450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091"/>
              <a:buNone/>
            </a:pPr>
            <a:r>
              <a:rPr b="1" lang="pt-PT" sz="5347">
                <a:solidFill>
                  <a:schemeClr val="lt1"/>
                </a:solidFill>
              </a:rPr>
              <a:t>super. — superclass/subClass</a:t>
            </a:r>
            <a:endParaRPr b="1" sz="5347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48091"/>
              <a:buNone/>
            </a:pPr>
            <a:r>
              <a:t/>
            </a:r>
            <a:endParaRPr b="1" sz="5347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48091"/>
              <a:buNone/>
            </a:pPr>
            <a:r>
              <a:rPr b="1" lang="pt-PT" sz="5347">
                <a:solidFill>
                  <a:schemeClr val="lt1"/>
                </a:solidFill>
              </a:rPr>
              <a:t>@override         IS-A/Has-A</a:t>
            </a:r>
            <a:endParaRPr b="1" sz="5347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>
            <p:ph type="title"/>
          </p:nvPr>
        </p:nvSpPr>
        <p:spPr>
          <a:xfrm>
            <a:off x="311700" y="432300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Project Magic Lamp</a:t>
            </a:r>
            <a:endParaRPr b="1" sz="502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502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502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502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   more like All night Long</a:t>
            </a:r>
            <a:endParaRPr b="1" sz="5020">
              <a:solidFill>
                <a:schemeClr val="lt1"/>
              </a:solidFill>
            </a:endParaRPr>
          </a:p>
        </p:txBody>
      </p:sp>
      <p:pic>
        <p:nvPicPr>
          <p:cNvPr id="115" name="Google Shape;1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1200" y="863850"/>
            <a:ext cx="3985125" cy="318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type="title"/>
          </p:nvPr>
        </p:nvSpPr>
        <p:spPr>
          <a:xfrm>
            <a:off x="60525" y="71925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Project Magic Lamp</a:t>
            </a:r>
            <a:endParaRPr b="1" sz="5020">
              <a:solidFill>
                <a:schemeClr val="lt1"/>
              </a:solidFill>
            </a:endParaRPr>
          </a:p>
        </p:txBody>
      </p:sp>
      <p:pic>
        <p:nvPicPr>
          <p:cNvPr id="121" name="Google Shape;1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2950" y="0"/>
            <a:ext cx="1988975" cy="159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2"/>
          <p:cNvSpPr/>
          <p:nvPr/>
        </p:nvSpPr>
        <p:spPr>
          <a:xfrm>
            <a:off x="997650" y="1426200"/>
            <a:ext cx="1878300" cy="1145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PT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3632850" y="1426200"/>
            <a:ext cx="1878300" cy="1145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PT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LAMP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6268050" y="1426200"/>
            <a:ext cx="1989000" cy="1145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PT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PT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2348600" y="3237525"/>
            <a:ext cx="1878300" cy="1145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PT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Genie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PT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4958100" y="3237525"/>
            <a:ext cx="1878300" cy="1145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PT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60525" y="71925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Project Magic Lamp</a:t>
            </a:r>
            <a:endParaRPr b="1" sz="5020">
              <a:solidFill>
                <a:schemeClr val="lt1"/>
              </a:solidFill>
            </a:endParaRPr>
          </a:p>
        </p:txBody>
      </p:sp>
      <p:pic>
        <p:nvPicPr>
          <p:cNvPr id="132" name="Google Shape;1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2950" y="0"/>
            <a:ext cx="1988975" cy="159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/>
          <p:nvPr/>
        </p:nvSpPr>
        <p:spPr>
          <a:xfrm>
            <a:off x="3381675" y="1290225"/>
            <a:ext cx="1878300" cy="1145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PT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Genie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1142500" y="2905950"/>
            <a:ext cx="1878300" cy="1145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PT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Friendly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PT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Genie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3381675" y="2896975"/>
            <a:ext cx="1878300" cy="1145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PT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Grumpy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PT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Genie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5620850" y="2905950"/>
            <a:ext cx="1878300" cy="1145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PT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8863" y="3851300"/>
            <a:ext cx="1203925" cy="129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994" y="2796700"/>
            <a:ext cx="1076750" cy="145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5487" y="2746613"/>
            <a:ext cx="1203900" cy="144613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3"/>
          <p:cNvSpPr/>
          <p:nvPr/>
        </p:nvSpPr>
        <p:spPr>
          <a:xfrm rot="3033082">
            <a:off x="2776062" y="2058521"/>
            <a:ext cx="524091" cy="102648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3"/>
          <p:cNvSpPr/>
          <p:nvPr/>
        </p:nvSpPr>
        <p:spPr>
          <a:xfrm rot="-2701391">
            <a:off x="5273994" y="2092378"/>
            <a:ext cx="524178" cy="102629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4032451" y="2200646"/>
            <a:ext cx="524100" cy="102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/>
          <p:nvPr>
            <p:ph type="title"/>
          </p:nvPr>
        </p:nvSpPr>
        <p:spPr>
          <a:xfrm>
            <a:off x="60525" y="71925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 Genie.class</a:t>
            </a:r>
            <a:endParaRPr b="1" sz="5020">
              <a:solidFill>
                <a:schemeClr val="lt1"/>
              </a:solidFill>
            </a:endParaRPr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2950" y="0"/>
            <a:ext cx="1988975" cy="159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50" y="1147775"/>
            <a:ext cx="4216070" cy="354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10450" y="0"/>
            <a:ext cx="463355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type="title"/>
          </p:nvPr>
        </p:nvSpPr>
        <p:spPr>
          <a:xfrm>
            <a:off x="60525" y="71925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 FGenie.class</a:t>
            </a:r>
            <a:endParaRPr b="1" sz="5020">
              <a:solidFill>
                <a:schemeClr val="lt1"/>
              </a:solidFill>
            </a:endParaRPr>
          </a:p>
        </p:txBody>
      </p:sp>
      <p:pic>
        <p:nvPicPr>
          <p:cNvPr id="156" name="Google Shape;1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2950" y="0"/>
            <a:ext cx="1988975" cy="159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150" y="1645300"/>
            <a:ext cx="7303701" cy="24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type="title"/>
          </p:nvPr>
        </p:nvSpPr>
        <p:spPr>
          <a:xfrm>
            <a:off x="60525" y="71925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 FGenie.class</a:t>
            </a:r>
            <a:endParaRPr b="1" sz="5020">
              <a:solidFill>
                <a:schemeClr val="lt1"/>
              </a:solidFill>
            </a:endParaRPr>
          </a:p>
        </p:txBody>
      </p:sp>
      <p:pic>
        <p:nvPicPr>
          <p:cNvPr id="163" name="Google Shape;1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9050" y="880175"/>
            <a:ext cx="5345900" cy="426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6549" y="454275"/>
            <a:ext cx="1956550" cy="26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60525" y="71925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 GGenie.class</a:t>
            </a:r>
            <a:endParaRPr b="1" sz="5020">
              <a:solidFill>
                <a:schemeClr val="lt1"/>
              </a:solidFill>
            </a:endParaRPr>
          </a:p>
        </p:txBody>
      </p:sp>
      <p:pic>
        <p:nvPicPr>
          <p:cNvPr id="170" name="Google Shape;1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1965" y="937075"/>
            <a:ext cx="5000074" cy="4206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8250" y="205925"/>
            <a:ext cx="2459550" cy="263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type="title"/>
          </p:nvPr>
        </p:nvSpPr>
        <p:spPr>
          <a:xfrm>
            <a:off x="60525" y="71925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 Demon.class</a:t>
            </a:r>
            <a:endParaRPr b="1" sz="5020">
              <a:solidFill>
                <a:schemeClr val="lt1"/>
              </a:solidFill>
            </a:endParaRPr>
          </a:p>
        </p:txBody>
      </p:sp>
      <p:pic>
        <p:nvPicPr>
          <p:cNvPr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9463" y="904975"/>
            <a:ext cx="5845076" cy="41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2346" y="222875"/>
            <a:ext cx="2050375" cy="246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type="title"/>
          </p:nvPr>
        </p:nvSpPr>
        <p:spPr>
          <a:xfrm>
            <a:off x="60525" y="71925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 Lamp.class</a:t>
            </a:r>
            <a:endParaRPr b="1" sz="5020">
              <a:solidFill>
                <a:schemeClr val="lt1"/>
              </a:solidFill>
            </a:endParaRPr>
          </a:p>
        </p:txBody>
      </p:sp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2950" y="0"/>
            <a:ext cx="1988975" cy="159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1313" y="820150"/>
            <a:ext cx="4501376" cy="423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title"/>
          </p:nvPr>
        </p:nvSpPr>
        <p:spPr>
          <a:xfrm>
            <a:off x="60525" y="71925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 Lamp</a:t>
            </a:r>
            <a:endParaRPr b="1" sz="502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.class</a:t>
            </a:r>
            <a:endParaRPr b="1" sz="5020">
              <a:solidFill>
                <a:schemeClr val="lt1"/>
              </a:solidFill>
            </a:endParaRPr>
          </a:p>
        </p:txBody>
      </p:sp>
      <p:pic>
        <p:nvPicPr>
          <p:cNvPr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56000"/>
            <a:ext cx="1988975" cy="159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9525" y="71925"/>
            <a:ext cx="6924723" cy="502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>
            <p:ph type="title"/>
          </p:nvPr>
        </p:nvSpPr>
        <p:spPr>
          <a:xfrm>
            <a:off x="60525" y="71925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NumberGen</a:t>
            </a:r>
            <a:endParaRPr b="1" sz="5020">
              <a:solidFill>
                <a:schemeClr val="lt1"/>
              </a:solidFill>
            </a:endParaRPr>
          </a:p>
        </p:txBody>
      </p:sp>
      <p:pic>
        <p:nvPicPr>
          <p:cNvPr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6525" y="913000"/>
            <a:ext cx="4490950" cy="408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type="title"/>
          </p:nvPr>
        </p:nvSpPr>
        <p:spPr>
          <a:xfrm>
            <a:off x="1275900" y="1353450"/>
            <a:ext cx="65922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MASTER PERSON</a:t>
            </a:r>
            <a:endParaRPr b="1" sz="50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 txBox="1"/>
          <p:nvPr>
            <p:ph type="title"/>
          </p:nvPr>
        </p:nvSpPr>
        <p:spPr>
          <a:xfrm>
            <a:off x="96500" y="119450"/>
            <a:ext cx="65922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MASTER PERSON</a:t>
            </a:r>
            <a:endParaRPr b="1" sz="5020">
              <a:solidFill>
                <a:schemeClr val="lt1"/>
              </a:solidFill>
            </a:endParaRPr>
          </a:p>
        </p:txBody>
      </p:sp>
      <p:pic>
        <p:nvPicPr>
          <p:cNvPr id="209" name="Google Shape;2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8363" y="1107950"/>
            <a:ext cx="5107269" cy="350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3070800" y="1808425"/>
            <a:ext cx="9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 txBox="1"/>
          <p:nvPr>
            <p:ph type="title"/>
          </p:nvPr>
        </p:nvSpPr>
        <p:spPr>
          <a:xfrm>
            <a:off x="96500" y="119450"/>
            <a:ext cx="65922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MASTER PERSON</a:t>
            </a:r>
            <a:endParaRPr b="1" sz="5020">
              <a:solidFill>
                <a:schemeClr val="lt1"/>
              </a:solidFill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3070800" y="1808425"/>
            <a:ext cx="9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0150" y="970325"/>
            <a:ext cx="5789972" cy="4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>
            <p:ph type="title"/>
          </p:nvPr>
        </p:nvSpPr>
        <p:spPr>
          <a:xfrm>
            <a:off x="96500" y="119450"/>
            <a:ext cx="65922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MASTER PERSON</a:t>
            </a:r>
            <a:endParaRPr b="1" sz="5020">
              <a:solidFill>
                <a:schemeClr val="lt1"/>
              </a:solidFill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3070800" y="1808425"/>
            <a:ext cx="9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125" y="880925"/>
            <a:ext cx="6078177" cy="433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4552" y="490925"/>
            <a:ext cx="1998898" cy="240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type="title"/>
          </p:nvPr>
        </p:nvSpPr>
        <p:spPr>
          <a:xfrm>
            <a:off x="96500" y="119450"/>
            <a:ext cx="65922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MASTER PERSON</a:t>
            </a:r>
            <a:endParaRPr b="1" sz="5020">
              <a:solidFill>
                <a:schemeClr val="lt1"/>
              </a:solidFill>
            </a:endParaRPr>
          </a:p>
        </p:txBody>
      </p:sp>
      <p:sp>
        <p:nvSpPr>
          <p:cNvPr id="231" name="Google Shape;231;p26"/>
          <p:cNvSpPr txBox="1"/>
          <p:nvPr/>
        </p:nvSpPr>
        <p:spPr>
          <a:xfrm>
            <a:off x="3070800" y="1808425"/>
            <a:ext cx="9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88" y="929975"/>
            <a:ext cx="8687734" cy="263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3712451"/>
            <a:ext cx="8839200" cy="115653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6"/>
          <p:cNvSpPr/>
          <p:nvPr/>
        </p:nvSpPr>
        <p:spPr>
          <a:xfrm rot="10800000">
            <a:off x="5451450" y="1568175"/>
            <a:ext cx="1124700" cy="40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04755db178_1_4"/>
          <p:cNvSpPr txBox="1"/>
          <p:nvPr>
            <p:ph type="title"/>
          </p:nvPr>
        </p:nvSpPr>
        <p:spPr>
          <a:xfrm>
            <a:off x="96500" y="119450"/>
            <a:ext cx="65922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A vergonha</a:t>
            </a:r>
            <a:endParaRPr b="1" sz="5020">
              <a:solidFill>
                <a:schemeClr val="lt1"/>
              </a:solidFill>
            </a:endParaRPr>
          </a:p>
        </p:txBody>
      </p:sp>
      <p:sp>
        <p:nvSpPr>
          <p:cNvPr id="240" name="Google Shape;240;g204755db178_1_4"/>
          <p:cNvSpPr txBox="1"/>
          <p:nvPr/>
        </p:nvSpPr>
        <p:spPr>
          <a:xfrm>
            <a:off x="3070800" y="1808425"/>
            <a:ext cx="9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204755db178_1_4"/>
          <p:cNvSpPr/>
          <p:nvPr/>
        </p:nvSpPr>
        <p:spPr>
          <a:xfrm rot="10800000">
            <a:off x="5451450" y="1568175"/>
            <a:ext cx="1124700" cy="40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g204755db178_1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750" y="1224100"/>
            <a:ext cx="6882500" cy="357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 txBox="1"/>
          <p:nvPr>
            <p:ph type="title"/>
          </p:nvPr>
        </p:nvSpPr>
        <p:spPr>
          <a:xfrm>
            <a:off x="96500" y="119450"/>
            <a:ext cx="78339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5020">
                <a:solidFill>
                  <a:schemeClr val="lt1"/>
                </a:solidFill>
              </a:rPr>
              <a:t>SORRY.. MANY.. SLIDES.. SORRY..</a:t>
            </a:r>
            <a:endParaRPr b="1" sz="502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502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5020">
              <a:solidFill>
                <a:schemeClr val="lt1"/>
              </a:solidFill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3070800" y="1808425"/>
            <a:ext cx="9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27"/>
          <p:cNvPicPr preferRelativeResize="0"/>
          <p:nvPr/>
        </p:nvPicPr>
        <p:blipFill rotWithShape="1">
          <a:blip r:embed="rId3">
            <a:alphaModFix/>
          </a:blip>
          <a:srcRect b="12091" l="28530" r="28530" t="2567"/>
          <a:stretch/>
        </p:blipFill>
        <p:spPr>
          <a:xfrm>
            <a:off x="3230525" y="1850200"/>
            <a:ext cx="2209950" cy="29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7"/>
          <p:cNvPicPr preferRelativeResize="0"/>
          <p:nvPr/>
        </p:nvPicPr>
        <p:blipFill rotWithShape="1">
          <a:blip r:embed="rId4">
            <a:alphaModFix/>
          </a:blip>
          <a:srcRect b="0" l="17389" r="0" t="30079"/>
          <a:stretch/>
        </p:blipFill>
        <p:spPr>
          <a:xfrm>
            <a:off x="1031875" y="3437600"/>
            <a:ext cx="1911924" cy="1608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7"/>
          <p:cNvPicPr preferRelativeResize="0"/>
          <p:nvPr/>
        </p:nvPicPr>
        <p:blipFill rotWithShape="1">
          <a:blip r:embed="rId5">
            <a:alphaModFix/>
          </a:blip>
          <a:srcRect b="0" l="21537" r="0" t="0"/>
          <a:stretch/>
        </p:blipFill>
        <p:spPr>
          <a:xfrm>
            <a:off x="150825" y="1850200"/>
            <a:ext cx="2587626" cy="151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21425" y="2851151"/>
            <a:ext cx="3162225" cy="219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9627" y="873125"/>
            <a:ext cx="2804027" cy="192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PT"/>
              <a:t>DE</a:t>
            </a:r>
            <a:endParaRPr/>
          </a:p>
        </p:txBody>
      </p:sp>
      <p:sp>
        <p:nvSpPr>
          <p:cNvPr id="259" name="Google Shape;2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Brad Kane &amp; Lea Salonga" id="260" name="Google Shape;260;p28" title="A whole new world (English)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PT"/>
              <a:t>DE</a:t>
            </a:r>
            <a:endParaRPr/>
          </a:p>
        </p:txBody>
      </p:sp>
      <p:sp>
        <p:nvSpPr>
          <p:cNvPr id="266" name="Google Shape;26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pt-PT" sz="2800">
                <a:solidFill>
                  <a:schemeClr val="lt1"/>
                </a:solidFill>
              </a:rPr>
              <a:t>https://www.youtube.com/watch?v=EXTLJmYsaUQ</a:t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